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39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31520" y="75467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Analytics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Growth Recommendations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10972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strategies to boost audience engagement, optimise scheduling and grow subscriptions.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LESEGO PUTSOA V.1 • FOR THE CEO &amp;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and abbreviations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the acronyms, data fields and concepts used throughout this deck.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22860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Management — strategy of growing the long-term value of existing viewers through retention, engagement and personalisation.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18120" y="22860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streaming platform whose viewership data is being analysed in this report.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22960" y="28529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852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Standard Time (UTC+2). All timestamps in this analysis are converted from UTC to SAST.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852928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492240" y="28529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2852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Universal Time — the global time standard in which the raw RecordDate2 values are stored.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19856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822960" y="341985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— used to query the viewership_tv and user_profiles_tv tables.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419856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492240" y="341985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18120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operation linking viewing sessions to user profiles via UserID, enabling demographic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86784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822960" y="398678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8840" y="39867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— database policies that restrict which rows a user may read or write.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986784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492240" y="398678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18120" y="39867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 — a measurable value that tracks progress against business goals.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553712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822960" y="45537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HH:MM:SS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48840" y="45537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Hours:Minutes:Seconds — the format of the Duration 2 field, converted to seconds for aggregation.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553712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492240" y="45537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18120" y="45537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(&lt;18), Youth (18–35), Adults (36–59), Pensioners (60+) — derived from the Age field.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5120640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822960" y="51206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of Day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48840" y="51206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(05–11), Afternoon (12–16), Evening (17–20), Night (21–04) — bucketed from SAST hour.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5120640"/>
            <a:ext cx="73152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492240" y="51206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818120" y="51206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subscriber stops watching or cancels their subscription — the key risk CVM aims to reduce.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viewership data into subscription growth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868680" y="306324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Goal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BrightTV subscriptions in a competitive streaming market by deepening engagement and retention.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703320" y="306324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70332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viewership joined with user profiles — UTC times converted to SAST (UTC+2).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537960" y="306324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53796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CVM Lens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inform targeted initiatives that increase customer lifetime value and reduce churn.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9372600" y="306324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937260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2600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personalisation and off-peak engagement plays tailored to real audience behaviour.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datasets, one viewer story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viewership_tv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Sessions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5840" y="333756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single viewing session — user, channel, start time and duration. Powers all behavioural metrics: who watched, what, when and for how long.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= 1 session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577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UTC→SAST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hours applied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user_profiles_tv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Subscriber Profiles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75120" y="333756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675120" y="3520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context joined to every session — gender, age, province and race. Turns raw viewing into segmented insight.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UserID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5577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dims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• gender • province • race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VIEWERS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Afternoons spike, evenings hold strong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67665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807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viewed by time of day (SAST)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1031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0" y="274320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7955280" y="301752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82296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leads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hours of any window — the platform's daily peak.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37307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8229600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close second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3959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377.6 hrs viewed — prime slot for premium and live content.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44439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8229600" y="4398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 warm up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~320 hrs — great for catch-up and short-form.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5157216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8229600" y="5111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are quietest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53858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engagement — opportunity for replays and background play.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VIEWERS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sessions are short — engagement tails off fast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67665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807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viewing-session lengths (hours)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1031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Short, frequent sessions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0" y="274320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7955280" y="301752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82296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540+ sessions under 1 hour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dip in and out — modern, on-the-go consumption.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37307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8229600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sessions in the 1–2 hr range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3959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healthy cluster of meaningful engagement.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44439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8229600" y="4398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is rare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5 hours sessions drop sharply — few binge viewers.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5157216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8229600" y="5111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53858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highlights, recaps and short-form to match real habits.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MOMENTUM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built into March — then dropped sharply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94944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983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 viewed by month (SAST)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5349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275h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23160" y="5349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23160" y="5852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06240" y="5349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830h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206240" y="5852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2016 — peak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5349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5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89320" y="5852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2016 — drop-off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63840" y="219456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81381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138160" y="283464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8138160" y="3136392"/>
            <a:ext cx="128016" cy="12801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836676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is the breakout month — likely event-driven (live sport, premieres).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38160" y="3849624"/>
            <a:ext cx="128016" cy="12801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8366760" y="37764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April fall is an early-warning churn signal worth investigating.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38160" y="4562856"/>
            <a:ext cx="128016" cy="12801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8366760" y="448970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 rolling cycles, not isolated monthly bursts.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138160" y="5276088"/>
            <a:ext cx="128016" cy="12801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8366760" y="520293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interventions — push notifications, featured collections — when monthly hours dip.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725912" y="0"/>
            <a:ext cx="14630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WATCHES WHAT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channels dominate — and the youth lead the way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67665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80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viewed by channel × age group (youth • adults • pensioners • children)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1031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4F6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signals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0" y="274320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7955280" y="301752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82296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leads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hours overall — a clear flagship engagement driver.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37307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8229600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close behind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3959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keeps subscribers watching longest.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44439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8229600" y="4398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(18–35) dominate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viewing share across every channel — prioritise them.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5157216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8229600" y="5111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&amp; pensioners are light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53858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segments — opportunity for tailored line-ups.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plays to grow subscriptions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0972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960120" y="235000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96012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2219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from monthly bursts to rolling momentum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6243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 cycles. Use mid-cycle refreshes so March-style peaks aren't followed by April-style drops.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057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903720" y="235000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90372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22219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top channels as platform traffic drivers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26243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Cross-promote lighter channels off ICC Cricket and SuperSport with "if you enjoyed this, try…" placements.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960120" y="376732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60120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6393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to time-of-day behaviour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04164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repeatable content for mornings &amp; nights. Premium and live for the afternoon–evening peak.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3474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903720" y="376732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903720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89520" y="36393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 by age and province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404164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youth-focused, sport-rich line-ups; build tailored bundles for under-served pensioners and children.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19856" y="4892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3648456" y="518464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648456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334256" y="505663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performance tracking actionable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34256" y="54589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that flag declining channels, months and time slots automatically — not just report what happened.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to the CEO's growth objective — engage harder, retain longer, convert more.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997</Words>
  <Application>Microsoft Office PowerPoint</Application>
  <PresentationFormat>Widescreen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BrightTV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Lesego Putsoa</cp:lastModifiedBy>
  <cp:revision>3</cp:revision>
  <dcterms:created xsi:type="dcterms:W3CDTF">2026-04-19T06:58:13Z</dcterms:created>
  <dcterms:modified xsi:type="dcterms:W3CDTF">2026-04-19T07:14:41Z</dcterms:modified>
</cp:coreProperties>
</file>